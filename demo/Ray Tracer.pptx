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embeddedFontLst>
    <p:embeddedFont>
      <p:font typeface="Inter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nter-italic.fntdata"/><Relationship Id="rId50" Type="http://schemas.openxmlformats.org/officeDocument/2006/relationships/font" Target="fonts/Inter-bold.fntdata"/><Relationship Id="rId52" Type="http://schemas.openxmlformats.org/officeDocument/2006/relationships/font" Target="fonts/Int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8710862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8710862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871086214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871086214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8a287e98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f8a287e98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8ab617a2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f8ab617a2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8ab617a2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f8ab617a2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8ab617a2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f8ab617a2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8ab617a2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8ab617a2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89336ce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f89336ce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8ab617a2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f8ab617a2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8ab617a21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f8ab617a21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f8ab617a2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f8ab617a2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8ab617a21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8ab617a2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8ab617a2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f8ab617a2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8ab617a2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8ab617a2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8ab617a2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f8ab617a2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8ab617a2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f8ab617a2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8ab617a2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f8ab617a2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9b6fb86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f9b6fb86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9b6fb86c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f9b6fb86c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9b6fb86c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f9b6fb86c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9b6fb86c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f9b6fb86c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9b6fb86c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f9b6fb86c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9b6fb86c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f9b6fb86c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9b6fb86c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f9b6fb86c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9b6fb86c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f9b6fb86c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9b6fb86c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f9b6fb86c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9b6fb86c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f9b6fb86c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9b6fb86c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f9b6fb86c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9b6fb86c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f9b6fb86c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f9b6fb86c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f9b6fb86c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f9b6fb86c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f9b6fb86c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f9b6fb86c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f9b6fb86c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9b6fb86c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f9b6fb86c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8ab617a2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f8ab617a2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f8ab617a2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f8ab617a2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f8ab617a2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f8ab617a2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f8ab617a2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f8ab617a2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f8ab617a2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f8ab617a2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8ab617a2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f8ab617a2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8ab617a21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f8ab617a21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f8ab617a21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f8ab617a21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f8ab617a21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f8ab617a2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f8ab617a21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f8ab617a21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jpg"/><Relationship Id="rId4" Type="http://schemas.openxmlformats.org/officeDocument/2006/relationships/image" Target="../media/image7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47"/>
          <p:cNvCxnSpPr/>
          <p:nvPr/>
        </p:nvCxnSpPr>
        <p:spPr>
          <a:xfrm>
            <a:off x="285450" y="4488009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47"/>
          <p:cNvSpPr txBox="1"/>
          <p:nvPr/>
        </p:nvSpPr>
        <p:spPr>
          <a:xfrm>
            <a:off x="375475" y="285900"/>
            <a:ext cx="4904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Chaos Camp 2026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63" name="Google Shape;363;p47" title="output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875" y="1061825"/>
            <a:ext cx="4412227" cy="2481899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7"/>
          <p:cNvSpPr txBox="1"/>
          <p:nvPr/>
        </p:nvSpPr>
        <p:spPr>
          <a:xfrm>
            <a:off x="6802050" y="4593650"/>
            <a:ext cx="20547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Philip Lisichkov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8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What’s missing?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0" name="Google Shape;370;p48"/>
          <p:cNvSpPr txBox="1"/>
          <p:nvPr/>
        </p:nvSpPr>
        <p:spPr>
          <a:xfrm>
            <a:off x="1384200" y="1163975"/>
            <a:ext cx="64911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Image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and procedural textures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Bounding Volume Hierarchy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9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Generation Process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6" name="Google Shape;376;p49"/>
          <p:cNvSpPr txBox="1"/>
          <p:nvPr/>
        </p:nvSpPr>
        <p:spPr>
          <a:xfrm>
            <a:off x="903325" y="1066050"/>
            <a:ext cx="36687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Reading the scene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0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Generation Process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2" name="Google Shape;382;p50"/>
          <p:cNvSpPr/>
          <p:nvPr/>
        </p:nvSpPr>
        <p:spPr>
          <a:xfrm>
            <a:off x="5241450" y="1066050"/>
            <a:ext cx="2392500" cy="1505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Elements of the scene: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List of mesh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List of lights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List of materials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Camera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3" name="Google Shape;383;p50"/>
          <p:cNvSpPr/>
          <p:nvPr/>
        </p:nvSpPr>
        <p:spPr>
          <a:xfrm>
            <a:off x="5605800" y="2880925"/>
            <a:ext cx="1663800" cy="471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Renderer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4" name="Google Shape;384;p50"/>
          <p:cNvSpPr txBox="1"/>
          <p:nvPr/>
        </p:nvSpPr>
        <p:spPr>
          <a:xfrm>
            <a:off x="903325" y="1066050"/>
            <a:ext cx="36687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Reading the scene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1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Generation Process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0" name="Google Shape;390;p51"/>
          <p:cNvSpPr txBox="1"/>
          <p:nvPr/>
        </p:nvSpPr>
        <p:spPr>
          <a:xfrm>
            <a:off x="903325" y="1066050"/>
            <a:ext cx="36687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Reading the scene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51"/>
          <p:cNvSpPr txBox="1"/>
          <p:nvPr/>
        </p:nvSpPr>
        <p:spPr>
          <a:xfrm>
            <a:off x="903325" y="1863850"/>
            <a:ext cx="36687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Building AABBs for each mesh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2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Image Generation Process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7" name="Google Shape;397;p52"/>
          <p:cNvSpPr/>
          <p:nvPr/>
        </p:nvSpPr>
        <p:spPr>
          <a:xfrm>
            <a:off x="5241450" y="1066050"/>
            <a:ext cx="2655300" cy="1268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Axis-aligned bounding box: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min. extent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max. extent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52"/>
          <p:cNvSpPr txBox="1"/>
          <p:nvPr/>
        </p:nvSpPr>
        <p:spPr>
          <a:xfrm>
            <a:off x="903325" y="1066050"/>
            <a:ext cx="36687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Reading the scene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" name="Google Shape;399;p52"/>
          <p:cNvSpPr txBox="1"/>
          <p:nvPr/>
        </p:nvSpPr>
        <p:spPr>
          <a:xfrm>
            <a:off x="903325" y="1863850"/>
            <a:ext cx="36687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Building AABBs for each mesh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3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Image Generation Process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5" name="Google Shape;405;p53"/>
          <p:cNvSpPr txBox="1"/>
          <p:nvPr/>
        </p:nvSpPr>
        <p:spPr>
          <a:xfrm>
            <a:off x="903325" y="1066050"/>
            <a:ext cx="36687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Reading the scene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53"/>
          <p:cNvSpPr txBox="1"/>
          <p:nvPr/>
        </p:nvSpPr>
        <p:spPr>
          <a:xfrm>
            <a:off x="903325" y="1863850"/>
            <a:ext cx="36687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Building AABBs for each mesh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53"/>
          <p:cNvSpPr txBox="1"/>
          <p:nvPr/>
        </p:nvSpPr>
        <p:spPr>
          <a:xfrm>
            <a:off x="903325" y="2388775"/>
            <a:ext cx="3564000" cy="1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Rendering the image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Writing the image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4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Structure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13" name="Google Shape;41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163" y="2046575"/>
            <a:ext cx="7751174" cy="176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5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Structure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19" name="Google Shape;41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725" y="1978850"/>
            <a:ext cx="3890551" cy="15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6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Structure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25" name="Google Shape;42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725" y="1978850"/>
            <a:ext cx="3890551" cy="15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735" y="1573675"/>
            <a:ext cx="1428314" cy="23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9950" y="1573650"/>
            <a:ext cx="1428325" cy="235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725" y="1978871"/>
            <a:ext cx="3890549" cy="261966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7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Structure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8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Structure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39" name="Google Shape;43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726" y="1596887"/>
            <a:ext cx="3636676" cy="2078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9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Structure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45" name="Google Shape;44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726" y="1596887"/>
            <a:ext cx="3636676" cy="207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6600" y="1322638"/>
            <a:ext cx="1596300" cy="262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60" title="presentation_head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175" y="1356600"/>
            <a:ext cx="5623152" cy="3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60"/>
          <p:cNvSpPr txBox="1"/>
          <p:nvPr/>
        </p:nvSpPr>
        <p:spPr>
          <a:xfrm>
            <a:off x="1861675" y="522950"/>
            <a:ext cx="5558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Rendering algorithm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1"/>
          <p:cNvSpPr txBox="1"/>
          <p:nvPr>
            <p:ph type="title"/>
          </p:nvPr>
        </p:nvSpPr>
        <p:spPr>
          <a:xfrm>
            <a:off x="1360050" y="285875"/>
            <a:ext cx="64239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Multithreaded Buckets Rendering Algorithm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8" name="Google Shape;458;p61"/>
          <p:cNvSpPr txBox="1"/>
          <p:nvPr/>
        </p:nvSpPr>
        <p:spPr>
          <a:xfrm>
            <a:off x="1384200" y="1871375"/>
            <a:ext cx="6491100" cy="2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Construct buckets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Assign buckets to threads until list is empty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each thread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Render region defined by bucket -&gt; Write to image buffer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Join threads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Rendering Single Region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4" name="Google Shape;464;p62"/>
          <p:cNvSpPr txBox="1"/>
          <p:nvPr/>
        </p:nvSpPr>
        <p:spPr>
          <a:xfrm>
            <a:off x="1384200" y="1871375"/>
            <a:ext cx="6491100" cy="2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each pixel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Construct ray with the camera as the origin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ray depth limit is reached, return black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Else, calculate color depending on the material type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3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Rendering Diffuse Material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0" name="Google Shape;470;p63"/>
          <p:cNvSpPr txBox="1"/>
          <p:nvPr/>
        </p:nvSpPr>
        <p:spPr>
          <a:xfrm>
            <a:off x="745200" y="1838750"/>
            <a:ext cx="3826800" cy="28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each light source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Calculate the light 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received: 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dot(hitNormal, normalized(lp))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hitNormal - the normal of the surface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lp - the reverse direction of the light ray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Multiply by the albedo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5" name="Google Shape;475;p64"/>
          <p:cNvCxnSpPr/>
          <p:nvPr/>
        </p:nvCxnSpPr>
        <p:spPr>
          <a:xfrm>
            <a:off x="285450" y="4488009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64"/>
          <p:cNvSpPr txBox="1"/>
          <p:nvPr/>
        </p:nvSpPr>
        <p:spPr>
          <a:xfrm>
            <a:off x="375475" y="285900"/>
            <a:ext cx="49044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Chaos Camp 2026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7" name="Google Shape;477;p64" title="output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875" y="1061825"/>
            <a:ext cx="4412227" cy="248189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64"/>
          <p:cNvSpPr txBox="1"/>
          <p:nvPr/>
        </p:nvSpPr>
        <p:spPr>
          <a:xfrm>
            <a:off x="6802050" y="4593650"/>
            <a:ext cx="20547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Philip Lisichkov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6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5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What’s missing?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5" name="Google Shape;485;p65"/>
          <p:cNvSpPr txBox="1"/>
          <p:nvPr/>
        </p:nvSpPr>
        <p:spPr>
          <a:xfrm>
            <a:off x="1384200" y="1163975"/>
            <a:ext cx="64911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Image and procedural textures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Bounding Volume Hierarchy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Google Shape;486;p6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6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Generation Process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2" name="Google Shape;492;p66"/>
          <p:cNvSpPr/>
          <p:nvPr/>
        </p:nvSpPr>
        <p:spPr>
          <a:xfrm>
            <a:off x="5241450" y="1066050"/>
            <a:ext cx="2392500" cy="1505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Elements of the scene: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List of mesh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List of lights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List of materials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Camera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3" name="Google Shape;493;p66"/>
          <p:cNvSpPr/>
          <p:nvPr/>
        </p:nvSpPr>
        <p:spPr>
          <a:xfrm>
            <a:off x="5605800" y="2880925"/>
            <a:ext cx="1663800" cy="471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Renderer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4" name="Google Shape;494;p66"/>
          <p:cNvSpPr txBox="1"/>
          <p:nvPr/>
        </p:nvSpPr>
        <p:spPr>
          <a:xfrm>
            <a:off x="903325" y="1066050"/>
            <a:ext cx="36687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Reading the scene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5" name="Google Shape;495;p6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7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Image Generation Process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1" name="Google Shape;501;p67"/>
          <p:cNvSpPr/>
          <p:nvPr/>
        </p:nvSpPr>
        <p:spPr>
          <a:xfrm>
            <a:off x="5241450" y="1066050"/>
            <a:ext cx="2655300" cy="1268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Axis-aligned bounding box: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min. extent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max. extent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2" name="Google Shape;502;p67"/>
          <p:cNvSpPr txBox="1"/>
          <p:nvPr/>
        </p:nvSpPr>
        <p:spPr>
          <a:xfrm>
            <a:off x="903325" y="1066050"/>
            <a:ext cx="36687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Reading the scene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3" name="Google Shape;503;p67"/>
          <p:cNvSpPr txBox="1"/>
          <p:nvPr/>
        </p:nvSpPr>
        <p:spPr>
          <a:xfrm>
            <a:off x="903325" y="1863850"/>
            <a:ext cx="36687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Building AABBs for each mesh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4" name="Google Shape;504;p6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8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Image Generation Process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0" name="Google Shape;510;p68"/>
          <p:cNvSpPr txBox="1"/>
          <p:nvPr/>
        </p:nvSpPr>
        <p:spPr>
          <a:xfrm>
            <a:off x="903325" y="1066050"/>
            <a:ext cx="36687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Reading the scene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1" name="Google Shape;511;p68"/>
          <p:cNvSpPr txBox="1"/>
          <p:nvPr/>
        </p:nvSpPr>
        <p:spPr>
          <a:xfrm>
            <a:off x="903325" y="1863850"/>
            <a:ext cx="36687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Building AABBs for each mesh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2" name="Google Shape;512;p68"/>
          <p:cNvSpPr txBox="1"/>
          <p:nvPr/>
        </p:nvSpPr>
        <p:spPr>
          <a:xfrm>
            <a:off x="903325" y="2388775"/>
            <a:ext cx="3564000" cy="1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Rendering the image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Writing the image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3" name="Google Shape;513;p6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9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Structure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19" name="Google Shape;51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163" y="2046575"/>
            <a:ext cx="7751174" cy="176917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0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Structure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26" name="Google Shape;52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725" y="1978850"/>
            <a:ext cx="3890551" cy="154045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7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1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Structure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33" name="Google Shape;53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725" y="1978850"/>
            <a:ext cx="3890551" cy="15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735" y="1573675"/>
            <a:ext cx="1428314" cy="23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9950" y="1573650"/>
            <a:ext cx="1428325" cy="2350831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7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725" y="1978871"/>
            <a:ext cx="3890549" cy="2619668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72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Structure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3" name="Google Shape;543;p7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3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Structure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49" name="Google Shape;54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726" y="1596887"/>
            <a:ext cx="3636676" cy="2078787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7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4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Structure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56" name="Google Shape;55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726" y="1596887"/>
            <a:ext cx="3636676" cy="207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6600" y="1322638"/>
            <a:ext cx="1596300" cy="2627276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7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75" title="presentation_head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175" y="1356600"/>
            <a:ext cx="5623152" cy="3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75"/>
          <p:cNvSpPr txBox="1"/>
          <p:nvPr/>
        </p:nvSpPr>
        <p:spPr>
          <a:xfrm>
            <a:off x="1861675" y="522950"/>
            <a:ext cx="5558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Rendering algorithm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5" name="Google Shape;565;p7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6"/>
          <p:cNvSpPr txBox="1"/>
          <p:nvPr>
            <p:ph type="title"/>
          </p:nvPr>
        </p:nvSpPr>
        <p:spPr>
          <a:xfrm>
            <a:off x="1360050" y="285875"/>
            <a:ext cx="64239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Multithreaded Buckets Rendering Algorithm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1" name="Google Shape;571;p76"/>
          <p:cNvSpPr txBox="1"/>
          <p:nvPr/>
        </p:nvSpPr>
        <p:spPr>
          <a:xfrm>
            <a:off x="1384200" y="1871375"/>
            <a:ext cx="6491100" cy="2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Construct buckets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Assign buckets to threads until list is empty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each thread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Render region defined by bucket -&gt; Write to image buffer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Join threads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2" name="Google Shape;572;p7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7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Rendering Single Region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8" name="Google Shape;578;p77"/>
          <p:cNvSpPr txBox="1"/>
          <p:nvPr/>
        </p:nvSpPr>
        <p:spPr>
          <a:xfrm>
            <a:off x="1384200" y="1871375"/>
            <a:ext cx="6491100" cy="2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each pixel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Construct ray with the camera as the origin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the ray depth limit is reached, return black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Else, calculate color depending on the material type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9" name="Google Shape;579;p7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8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Rendering Diffuse Material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5" name="Google Shape;585;p78"/>
          <p:cNvSpPr txBox="1"/>
          <p:nvPr/>
        </p:nvSpPr>
        <p:spPr>
          <a:xfrm>
            <a:off x="745200" y="1838750"/>
            <a:ext cx="3826800" cy="28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each light source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Calculate the light received: dot(hitNormal, normalized(lp))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hitNormal - the normal of the surface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lp - the reverse direction of the light ray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Multiply by the albedo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9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Rendering Diffuse Material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1" name="Google Shape;591;p79"/>
          <p:cNvSpPr txBox="1"/>
          <p:nvPr/>
        </p:nvSpPr>
        <p:spPr>
          <a:xfrm>
            <a:off x="745200" y="1838750"/>
            <a:ext cx="3826800" cy="28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each light source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Calculate the light received: dot(hitNormal, normalized(lp))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hitNormal - the normal of the surface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lp - the reverse direction of the light ray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Multiply by the albedo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2" name="Google Shape;592;p79" title="diffus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7975" y="1406725"/>
            <a:ext cx="3128150" cy="31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7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0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Rendering Diffuse Material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9" name="Google Shape;599;p80"/>
          <p:cNvSpPr txBox="1"/>
          <p:nvPr/>
        </p:nvSpPr>
        <p:spPr>
          <a:xfrm>
            <a:off x="745200" y="1838750"/>
            <a:ext cx="3826800" cy="28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each light source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Calculate the light received: dot(hitNormal, normalized(lp))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hitNormal - the normal of the surface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lp - the reverse direction of the light ray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Multiply by the albedo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0" name="Google Shape;600;p80" title="diffus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7975" y="1406725"/>
            <a:ext cx="3128150" cy="31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8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1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Rendering Reflective Material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7" name="Google Shape;607;p81"/>
          <p:cNvSpPr txBox="1"/>
          <p:nvPr/>
        </p:nvSpPr>
        <p:spPr>
          <a:xfrm>
            <a:off x="745200" y="1838750"/>
            <a:ext cx="3826800" cy="2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Construct reflection vector through the ray vector and surface normal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 = D - 2 * dot(R, N) * N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Multiply the resulting color with the material albedo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82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Rendering Reflective Material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3" name="Google Shape;613;p82"/>
          <p:cNvSpPr txBox="1"/>
          <p:nvPr/>
        </p:nvSpPr>
        <p:spPr>
          <a:xfrm>
            <a:off x="745200" y="1838750"/>
            <a:ext cx="3826800" cy="2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Construct reflection vector through the ray vector and surface normal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 = D - 2 * dot(R, N) * N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Multiply the resulting color with the material albedo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4" name="Google Shape;614;p82" title="reflectiv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7975" y="1406725"/>
            <a:ext cx="3128150" cy="31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8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3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Rendering Refractive Material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1" name="Google Shape;621;p83"/>
          <p:cNvSpPr txBox="1"/>
          <p:nvPr/>
        </p:nvSpPr>
        <p:spPr>
          <a:xfrm>
            <a:off x="435125" y="1098825"/>
            <a:ext cx="5002500" cy="3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Check if entering or leaving refractive material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leaving then swap IORs and flip hit normal &amp; proceed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Check if angle between ray and normal is below the critical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yes then build refraction ray &amp; reflection ray &amp; trace them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not then build reflection ray &amp; trace it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84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Rendering Refractive Material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7" name="Google Shape;627;p84"/>
          <p:cNvSpPr txBox="1"/>
          <p:nvPr/>
        </p:nvSpPr>
        <p:spPr>
          <a:xfrm>
            <a:off x="435125" y="1098825"/>
            <a:ext cx="5002500" cy="3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Check if entering or leaving refractive material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leaving then swap IORs and flip hit normal &amp; proceed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Check if angle between ray and normal is below the critical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yes then build refraction ray &amp; reflection ray &amp; trace them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not then build reflection ray &amp; trace it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8" name="Google Shape;628;p84" title="refractive_Tru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5550" y="887375"/>
            <a:ext cx="1863351" cy="1863351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84"/>
          <p:cNvSpPr txBox="1"/>
          <p:nvPr/>
        </p:nvSpPr>
        <p:spPr>
          <a:xfrm>
            <a:off x="7538888" y="1655550"/>
            <a:ext cx="11091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IOR = 1.5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Google Shape;630;p8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5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Rendering Refractive Material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6" name="Google Shape;636;p85"/>
          <p:cNvSpPr txBox="1"/>
          <p:nvPr/>
        </p:nvSpPr>
        <p:spPr>
          <a:xfrm>
            <a:off x="435125" y="1098825"/>
            <a:ext cx="5002500" cy="3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Check if entering or leaving refractive material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leaving then swap IORs and flip hit normal &amp; proceed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Check if angle between ray and normal is below the critical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yes then build refraction ray &amp; reflection ray &amp; trace them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not then build reflection ray &amp; trace it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7" name="Google Shape;637;p85" title="refractive_Tru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5550" y="887375"/>
            <a:ext cx="1863351" cy="186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85" title="refractive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5550" y="2881225"/>
            <a:ext cx="1863351" cy="1863351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85"/>
          <p:cNvSpPr txBox="1"/>
          <p:nvPr/>
        </p:nvSpPr>
        <p:spPr>
          <a:xfrm>
            <a:off x="7538888" y="1655550"/>
            <a:ext cx="11091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IOR = 1.5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0" name="Google Shape;640;p85"/>
          <p:cNvSpPr txBox="1"/>
          <p:nvPr/>
        </p:nvSpPr>
        <p:spPr>
          <a:xfrm>
            <a:off x="7538888" y="3553475"/>
            <a:ext cx="11091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IOR = 0.5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1" name="Google Shape;641;p8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6"/>
          <p:cNvSpPr txBox="1"/>
          <p:nvPr>
            <p:ph type="title"/>
          </p:nvPr>
        </p:nvSpPr>
        <p:spPr>
          <a:xfrm>
            <a:off x="1360050" y="285875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What will be added?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7" name="Google Shape;647;p86"/>
          <p:cNvSpPr txBox="1"/>
          <p:nvPr/>
        </p:nvSpPr>
        <p:spPr>
          <a:xfrm>
            <a:off x="435125" y="1098825"/>
            <a:ext cx="5002500" cy="3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BHV for each mesh and for the scene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Textures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Image, procedural, normal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Global Illumination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…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8" name="Google Shape;648;p8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8"/>
          <p:cNvSpPr txBox="1"/>
          <p:nvPr/>
        </p:nvSpPr>
        <p:spPr>
          <a:xfrm>
            <a:off x="3543900" y="2234125"/>
            <a:ext cx="20562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Any questions? Ask away!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8" name="Google Shape;658;p88"/>
          <p:cNvSpPr txBox="1"/>
          <p:nvPr/>
        </p:nvSpPr>
        <p:spPr>
          <a:xfrm>
            <a:off x="3483900" y="474875"/>
            <a:ext cx="20547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Q&amp;A</a:t>
            </a:r>
            <a:endParaRPr sz="3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9" name="Google Shape;659;p8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9"/>
          <p:cNvSpPr txBox="1"/>
          <p:nvPr>
            <p:ph type="title"/>
          </p:nvPr>
        </p:nvSpPr>
        <p:spPr>
          <a:xfrm>
            <a:off x="1287900" y="1902826"/>
            <a:ext cx="6683700" cy="12369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665" name="Google Shape;665;p8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